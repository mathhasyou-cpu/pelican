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65" r:id="rId2"/>
    <p:sldId id="366" r:id="rId3"/>
    <p:sldId id="362" r:id="rId4"/>
    <p:sldId id="364" r:id="rId5"/>
    <p:sldId id="375" r:id="rId6"/>
    <p:sldId id="268" r:id="rId7"/>
    <p:sldId id="372" r:id="rId8"/>
    <p:sldId id="267" r:id="rId9"/>
    <p:sldId id="260" r:id="rId10"/>
    <p:sldId id="263" r:id="rId11"/>
    <p:sldId id="376" r:id="rId23"/>
    <p:sldId id="262" r:id="rId12"/>
    <p:sldId id="371" r:id="rId13"/>
    <p:sldId id="270" r:id="rId14"/>
    <p:sldId id="374" r:id="rId15"/>
    <p:sldId id="369" r:id="rId1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268"/>
            <p14:sldId id="372"/>
            <p14:sldId id="267"/>
            <p14:sldId id="260"/>
            <p14:sldId id="263"/>
            <p14:sldId id="262"/>
            <p14:sldId id="371"/>
            <p14:sldId id="270"/>
            <p14:sldId id="374"/>
            <p14:sldId id="369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09" d="100"/>
          <a:sy n="109" d="100"/>
        </p:scale>
        <p:origin x="582" y="9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модель скоринга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срез 2020</c:v>
                </c:pt>
                <c:pt idx="1">
                  <c:v>срез 2022</c:v>
                </c:pt>
                <c:pt idx="2">
                  <c:v>срез 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</c:v>
                </c:pt>
                <c:pt idx="1">
                  <c:v>0.90</c:v>
                </c:pt>
                <c:pt idx="2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ТОП конвейера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срез 2020</c:v>
                </c:pt>
                <c:pt idx="1">
                  <c:v>срез 2022</c:v>
                </c:pt>
                <c:pt idx="2">
                  <c:v>срез 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</c:v>
                </c:pt>
                <c:pt idx="1">
                  <c:v>0.74</c:v>
                </c:pt>
                <c:pt idx="2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0.2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28.09.2026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28.09.2026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28.09.2026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28.09.2026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28.09.2026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28.09.2026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hyperlink" Target="https://github.com/mathhasyou-cpu/pelic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КОМАНДА «Zama»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/>
              <a:t>Задача 1. Радар слабых сигналов технологических трендов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6" y="499143"/>
            <a:ext cx="5193299" cy="74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Два потока свидетельств — наука (15 млн работ) и деньги (раунды, пилоты, сделки). Всё на локальной модели, выдача — только по найденным источникам, без сигналов «от себя».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Житомирский Дмитрий, Senior Full Stack Developer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одногруппники, товарищи и партнёры по бизнесу; работаем вместе больше года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оба — выпускники факультета компьютерных наук ОмГУ им. Ф.М. Достоевского, специальность «Вычислительные машины, комплексы, системы и сети»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Омск, Омская область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>
                <a:solidFill>
                  <a:schemeClr val="accent5"/>
                </a:solidFill>
                <a:latin typeface="+mn-lt"/>
              </a:rPr>
              <a:t>КОМАНДА «Zama»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Открытый запрос по направлению → ТОП-15 зарождающихся технологий: источники, игроки, уверенность и объяснение. Зрелое, стандарты, хайп и шум исключаются с причиной.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6152303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6324587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Старпом капитана, тестирование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@st_shell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+7 913 616-44-93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ОмГУ, ФКН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632458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Валентин Гусев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846985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082306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387376" y="1826554"/>
            <a:ext cx="1722566" cy="1542401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>
                <a:latin typeface="+mn-lt"/>
              </a:rPr>
              <a:t>КОМАНДА «Zama»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19269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Капитан, фуллстек-разработчик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mjxcqa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+7 931 256-13-81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ОмГУ, ФКН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01926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Дмитрий Житомирский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>
                <a:latin typeface="+mn-lt"/>
              </a:rPr>
              <a:t>ИСТОРИЯ И СЛОЖНОСТИ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10300000" cy="1100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Работаем вместе больше года. Сейчас делаем «Вербу» — АРМ юриста или врача: несколько ИИ-агентов на RAG-базе, речевой модуль и обработка больших массивов данных. Всё на локальных моделях внутри контура клиента — работает даже без интернета.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Проекты: scorebazooka.vibecodeteam.net · caemap.com · fakeprogress.com · vibecodeteam.net · kunamaapp.com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Потолок 20 минут на одной GPU: проход по 15 млн работ стоил минуты — полнотекстовый индекс Postgres (42 с против 1249 с); векторы через Docker читались втрое медленнее — нативный сервер шардов.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В датасете нет отрицательных — собрали контроль из 30 строк по классам исключения ТЗ.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1030000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Такой инструмент давно был нужен нам самим, но руки не доходили. Задача совпала с этой потребностью один в один — поэтому вписались сразу.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Конвейер на локальной gemma-4-12b: раскрытие запроса → научный поток (14 млн векторов arXiv/OpenAlex) → денежный поток (новости о раундах) → свидетельства → оценка класса → ТОП-15 → карточки → патенты EPO.</a:t>
            </a:r>
          </a:p>
          <a:p>
            <a:r>
              <a:rPr lang="ru-RU" sz="1400" dirty="0">
                <a:solidFill>
                  <a:schemeClr val="tx1"/>
                </a:solidFill>
              </a:rPr>
              <a:t>Postgres 18 (корпус, очередь, отчёты), FastAPI, React, Docker Compose.</a:t>
            </a:r>
          </a:p>
          <a:p>
            <a:r>
              <a:rPr lang="ru-RU" sz="1400" dirty="0">
                <a:solidFill>
                  <a:schemeClr val="tx1"/>
                </a:solidFill>
              </a:rPr>
              <a:t>Скоринг — обученная модель роста на признаках внутри запроса: проверка будущим AUC 0.83–0.90; по ней уверенность и порядок ТОП.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Технологическая разведка для банка: ранний сигнал за 1–2 года до того, как технология станет рынком.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Работает в контуре заказчика: локальные модели, данные наружу не уходят.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Развитие: подписка на направления с регулярным дайджестом, новые источники (патенты РФ, госзакупки), разметка методологов как обучающая петля.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Слабый сигнал — технология при низкой видимости и росте (Yoon 2012). Когда о ней пишут все, окно для решения уже закрыто.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Ручной мониторинг аналитиком и счётчики упоминаний: числа по отдельности не отделяют зрелое от нового — зрелое тоже публикуют.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Деньги и игроки как главное свидетельство (так судит методолог), класс зрелости решает модель по свидетельствам, числа — доводы, а не порог.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ПРОБЛЕМА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lang="ru-RU" sz="3600">
                <a:solidFill>
                  <a:schemeClr val="bg1"/>
                </a:solidFill>
              </a:rPr>
              <a:t>АРХИТЕКТУРА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22" name="Picture 21" descr="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95" y="1470149"/>
            <a:ext cx="11195409" cy="472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Раскрытие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перевод, фасеты и подрынки области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Деньги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раунды и пилоты, Rocchio/RM3, сверка с источником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ТОП-15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фильтр мейнстрима, проверка темы, скоринг моделью, карточки с цитатой-опорой, патенты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Наука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ближайшие работы корпуса, приёмы, UPGMA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Свидетельства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живой поиск, игроки, след в корпусе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КОНВЕЙЕР ЗАПРОСА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Зарождающаяся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единственный класс, который идёт в ТОП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Зрелая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массовое внедрение, сформированный рынок, лидеры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Стандарт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отраслевой стандарт или спецификация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Хайп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маркетинг без технического содержания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Шум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не технология: событие, продукт, персона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Категория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слишком общее: область, а не технология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ЧТО ИСКЛЮЧАЕТСЯ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04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05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>
                <a:solidFill>
                  <a:schemeClr val="tx1"/>
                </a:solidFill>
              </a:rPr>
              <a:t>Скоринг: AUC 0.83–0.90 на будущем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обучение на двух срезах, проверка на третьем; случайный уровень ≈ 0.6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>
                <a:solidFill>
                  <a:schemeClr val="tx1"/>
                </a:solidFill>
              </a:rPr>
              <a:t>Фильтр мейнстрима: 0 из 30 ложных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зрелое, стандарт, хайп, шум не приняты за сигнал; найдено 90–96 из 100 сигналов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>
                <a:solidFill>
                  <a:schemeClr val="tx1"/>
                </a:solidFill>
              </a:rPr>
              <a:t>0 выдумок в 75 карточках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346 компаний из 346 подтверждены источником; точность ТОП — 84% у независимого судьи GigaChat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r>
              <a:rPr lang="ru-RU"/>
              <a:t>КАЧЕСТВО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По замечаниям экспертов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дословная цитата-опора, найденная программой в источнике (ALCE); патенты в теле карточки; русское резюме у каждого зарубежного источника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Локально ≈ облако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gemma-4-12b против sonar: recall 0.93 / 0.95, precision 1.00 у обеих; стадию локальная точнее (33% / 22%), данные не покидают контур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Слои зрелости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уже тренд / слабый сигнал / наблюдать + гранты и препринты — включены на стенде: Big Tech в ТОП 20 → 10 на 4 запросах ТЗ, ТОП 15 везде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Ретро-тест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«увидеть Attention в 2018»: срезы +6/+12/+18 мес после статьи; «внимание» — №1 ТОП в 2018, засчитано 1 из 7, предел — полнота корпуса на дату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ДОРАБОТКИ К ФИНАЛУ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ru-RU" sz="1400" b="1">
                <a:solidFill>
                  <a:schemeClr val="tx1"/>
                </a:solidFill>
              </a:rPr>
              <a:t>Уверенность — вероятность обученной модели роста.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>Цель обучения — вырастет ли научный след ядра за два года сильнее, чем в среднем по области. Признаки — на момент среза, метка — будущее (как у Lee et al. 2018).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>Проверка будущим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>обучение на двух исторических срезах, проверка на третьем: AUC 0.83 (2020) · 0.90 (2022) · 0.83 (2024) при случайном ≈ 0.6.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>Ключевые предикторы и порядок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>вклады признаков со знаком — те слагаемые, из которых сложилась уверенность; по ней же порядок ТОП-15.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место по свежести ядра среди кандидатов запроса · вес +1.37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за направлением компании или деньги · 0, обнулено L1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доля свежих работ ядра, сжатая к медиане запроса · 0, обнулено L1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число компаний (до 4) · 0, обнулено L1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до скоринга — фильтр мейнстрима: в ТОП только «зарождающаяся»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11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СКОРИНГ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15.2 млн работ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arXiv и OpenAlex в Postgres 18; строки без содержания помечены при записи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42 с вместо 1249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полнотекстовый GIN-индекс вместо подстроки; корреляция с ней 0.999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14 млн векторов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768-мерные шарды файлами: поиск — проход матричного умножения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lang="ru-RU" b="1">
                <a:solidFill>
                  <a:srgbClr val="F92571"/>
                </a:solidFill>
              </a:rPr>
              <a:t>Сбор без потерь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конкурентные источники, запись кусками, повторы; дубли исключены ключом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ДАННЫЕ И ХРАНИЛИЩЕ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pelican.chinchilla-ilish.ts.net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pelican.chinchilla-ilish.ts.net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Веб-интерфейс на React: запрос своими словами, примеры ТЗ, история; ожидание с этапами и радаром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ТОП-15 «финтех» на радаре зрелости и карточка: уверенность, ключевые предикторы, почему это слабый сигнал — со ссылками на источники</a:t>
            </a:r>
          </a:p>
        </p:txBody>
      </p:sp>
      <p:pic>
        <p:nvPicPr>
          <p:cNvPr id="5" name="Рисунок 4" descr="crop_ui.png"/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t="105" b="105"/>
          <a:stretch>
            <a:fillRect/>
          </a:stretch>
        </p:blipFill>
        <p:spPr/>
      </p:pic>
      <p:pic>
        <p:nvPicPr>
          <p:cNvPr id="6" name="Рисунок 5" descr="crop_top.png"/>
          <p:cNvPicPr>
            <a:picLocks noGrp="1" noChangeAspect="1"/>
          </p:cNvPicPr>
          <p:nvPr>
            <p:ph type="pic" sz="quarter" idx="18"/>
          </p:nvPr>
        </p:nvPicPr>
        <p:blipFill>
          <a:blip r:embed="rId6"/>
          <a:srcRect t="4982" b="4982"/>
          <a:stretch>
            <a:fillRect/>
          </a:stretch>
        </p:blipFill>
        <p:spPr/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ПРИМЕР ВЫДАЧИ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lang="ru-RU" sz="1800" b="1">
                <a:solidFill>
                  <a:srgbClr val="F92571"/>
                </a:solidFill>
              </a:rPr>
              <a:t>Кому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технологическая разведка, R&amp;D и инвесткомитет банка: ранний список направлений с игроками и источниками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lang="ru-RU" sz="1800" b="1">
                <a:solidFill>
                  <a:srgbClr val="F92571"/>
                </a:solidFill>
              </a:rPr>
              <a:t>Как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docker compose в контуре заказчика; локальные модели на одной GPU — данные наружу не уходят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lang="ru-RU" sz="1800" b="1">
                <a:solidFill>
                  <a:srgbClr val="F92571"/>
                </a:solidFill>
              </a:rPr>
              <a:t>Дальше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lang="ru-RU">
                <a:solidFill>
                  <a:schemeClr val="tx1"/>
                </a:solidFill>
              </a:rPr>
              <a:t>подписка на направления с дайджестом; слои зрелости и новые источники (гранты NIH, препринты, ClinicalTrials.gov, YC) уже включены на стенде; разметка методологов как обучающая петля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>
                <a:solidFill>
                  <a:schemeClr val="accent5"/>
                </a:solidFill>
              </a:rPr>
              <a:t>ВНЕДРЕНИЕ И БИЗНЕС-МОДЕЛЬ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Стенд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https://pelican.chinchilla-ilish.ts.net</a:t>
            </a:r>
          </a:p>
          <a:p>
            <a:r>
              <a:rPr lang="ru-RU" b="1" dirty="0">
                <a:solidFill>
                  <a:schemeClr val="tx1"/>
                </a:solidFill>
              </a:rPr>
              <a:t>Репозиторий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hlinkClick r:id="rId3"/>
              </a:rPr>
              <a:t>https://github.com/mathhasyou-cpu/pelican</a:t>
            </a:r>
            <a:endParaRPr lang="en-US">
              <a:solidFill>
                <a:schemeClr val="tx1"/>
              </a:solidFill>
            </a:endParaRPr>
          </a:p>
          <a:p>
            <a:r>
              <a:rPr lang="ru-RU" b="1">
                <a:solidFill>
                  <a:schemeClr val="tx1"/>
                </a:solidFill>
              </a:rPr>
              <a:t>Документация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README.md, docs/techdoc.md, reports/weak-eval.md, docs/final-measure.md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2000">
                <a:solidFill>
                  <a:schemeClr val="accent5"/>
                </a:solidFill>
              </a:rPr>
              <a:t>ССЫЛКИ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11026</TotalTime>
  <Words>1112</Words>
  <Application>Microsoft Office PowerPoint</Application>
  <PresentationFormat>Широкоэкранный</PresentationFormat>
  <Paragraphs>156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Amatic SC</vt:lpstr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КОМАНДА «Zama»</vt:lpstr>
      <vt:lpstr>КОМАНДА «Zama»</vt:lpstr>
      <vt:lpstr>КОМАНДА «Zama»</vt:lpstr>
      <vt:lpstr>ИСТОРИЯ И СЛОЖНОСТИ</vt:lpstr>
      <vt:lpstr>КОРОТКО О РЕШЕНИИ</vt:lpstr>
      <vt:lpstr>ПРОБЛЕМА</vt:lpstr>
      <vt:lpstr>АРХИТЕКТУРА</vt:lpstr>
      <vt:lpstr>КОНВЕЙЕР ЗАПРОСА</vt:lpstr>
      <vt:lpstr>ЧТО ИСКЛЮЧАЕТСЯ</vt:lpstr>
      <vt:lpstr>КАЧЕСТВО</vt:lpstr>
      <vt:lpstr>СКОРИНГ</vt:lpstr>
      <vt:lpstr>ДАННЫЕ И ХРАНИЛИЩЕ</vt:lpstr>
      <vt:lpstr>ПРИМЕР ВЫДАЧИ</vt:lpstr>
      <vt:lpstr>ВНЕДРЕНИЕ И БИЗНЕС-МОДЕЛЬ</vt:lpstr>
      <vt:lpstr>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Valentin Gusev</cp:lastModifiedBy>
  <cp:revision>97</cp:revision>
  <dcterms:created xsi:type="dcterms:W3CDTF">2023-05-15T07:36:23Z</dcterms:created>
  <dcterms:modified xsi:type="dcterms:W3CDTF">2026-09-28T13:51:08Z</dcterms:modified>
</cp:coreProperties>
</file>